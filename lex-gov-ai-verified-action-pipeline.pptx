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0fab109c8c4ff3" /><Relationship Type="http://schemas.openxmlformats.org/officeDocument/2006/relationships/extended-properties" Target="/docProps/app.xml" Id="Rdd4198e4efc745d7" /><Relationship Type="http://schemas.openxmlformats.org/officeDocument/2006/relationships/officeDocument" Target="/ppt/presentation.xml" Id="Rb928f4e7fd36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22da8b43b4bc3"/>
  </p:sldMasterIdLst>
  <p:notesMasterIdLst>
    <p:notesMasterId xmlns:r="http://schemas.openxmlformats.org/officeDocument/2006/relationships" r:id="Rd234830783bc4831"/>
  </p:notesMasterIdLst>
  <p:sldIdLst>
    <p:sldId xmlns:r="http://schemas.openxmlformats.org/officeDocument/2006/relationships" id="256" r:id="R4f35dd36819b466e"/>
    <p:sldId xmlns:r="http://schemas.openxmlformats.org/officeDocument/2006/relationships" id="257" r:id="R2920602f1a8e4b39"/>
    <p:sldId xmlns:r="http://schemas.openxmlformats.org/officeDocument/2006/relationships" id="258" r:id="Rdab0dc34a3d14c78"/>
    <p:sldId xmlns:r="http://schemas.openxmlformats.org/officeDocument/2006/relationships" id="259" r:id="R5e6aabb486734680"/>
    <p:sldId xmlns:r="http://schemas.openxmlformats.org/officeDocument/2006/relationships" id="260" r:id="Ra79580f102964e03"/>
    <p:sldId xmlns:r="http://schemas.openxmlformats.org/officeDocument/2006/relationships" id="261" r:id="R29bc96b944cd4aaa"/>
    <p:sldId xmlns:r="http://schemas.openxmlformats.org/officeDocument/2006/relationships" id="262" r:id="Ra9703aeb7baf4000"/>
    <p:sldId xmlns:r="http://schemas.openxmlformats.org/officeDocument/2006/relationships" id="263" r:id="Rf18ecc0b1e204786"/>
    <p:sldId xmlns:r="http://schemas.openxmlformats.org/officeDocument/2006/relationships" id="264" r:id="R77da028f7bbc4f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22da8b43b4bc3" /><Relationship Type="http://schemas.openxmlformats.org/officeDocument/2006/relationships/theme" Target="/ppt/theme/theme1.xml" Id="Rdbcb6078b91d4192" /><Relationship Type="http://schemas.openxmlformats.org/officeDocument/2006/relationships/notesMaster" Target="/ppt/notesMasters/notesMaster1.xml" Id="Rd234830783bc4831" /><Relationship Type="http://schemas.openxmlformats.org/officeDocument/2006/relationships/presProps" Target="/ppt/presProps.xml" Id="R21a7c019fe0045c1" /><Relationship Type="http://schemas.openxmlformats.org/officeDocument/2006/relationships/viewProps" Target="/ppt/viewProps.xml" Id="Rf2a10052e6b04365" /><Relationship Type="http://schemas.openxmlformats.org/officeDocument/2006/relationships/tableStyles" Target="/ppt/tableStyles.xml" Id="Radc89697f4ea407c" /><Relationship Type="http://schemas.openxmlformats.org/officeDocument/2006/relationships/slide" Target="/ppt/slides/slide1.xml" Id="R4f35dd36819b466e" /><Relationship Type="http://schemas.openxmlformats.org/officeDocument/2006/relationships/slide" Target="/ppt/slides/slide2.xml" Id="R2920602f1a8e4b39" /><Relationship Type="http://schemas.openxmlformats.org/officeDocument/2006/relationships/slide" Target="/ppt/slides/slide3.xml" Id="Rdab0dc34a3d14c78" /><Relationship Type="http://schemas.openxmlformats.org/officeDocument/2006/relationships/slide" Target="/ppt/slides/slide4.xml" Id="R5e6aabb486734680" /><Relationship Type="http://schemas.openxmlformats.org/officeDocument/2006/relationships/slide" Target="/ppt/slides/slide5.xml" Id="Ra79580f102964e03" /><Relationship Type="http://schemas.openxmlformats.org/officeDocument/2006/relationships/slide" Target="/ppt/slides/slide6.xml" Id="R29bc96b944cd4aaa" /><Relationship Type="http://schemas.openxmlformats.org/officeDocument/2006/relationships/slide" Target="/ppt/slides/slide7.xml" Id="Ra9703aeb7baf4000" /><Relationship Type="http://schemas.openxmlformats.org/officeDocument/2006/relationships/slide" Target="/ppt/slides/slide8.xml" Id="Rf18ecc0b1e204786" /><Relationship Type="http://schemas.openxmlformats.org/officeDocument/2006/relationships/slide" Target="/ppt/slides/slide9.xml" Id="R77da028f7bbc4f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072d360f786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3bd72603c476d" /><Relationship Type="http://schemas.openxmlformats.org/officeDocument/2006/relationships/notesMaster" Target="/ppt/notesMasters/notesMaster1.xml" Id="Rca32f302dadf44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4e9d0f8e34368" /><Relationship Type="http://schemas.openxmlformats.org/officeDocument/2006/relationships/notesMaster" Target="/ppt/notesMasters/notesMaster1.xml" Id="Ra4d066735af244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2e0d11fe0b4add" /><Relationship Type="http://schemas.openxmlformats.org/officeDocument/2006/relationships/notesMaster" Target="/ppt/notesMasters/notesMaster1.xml" Id="R1c1889e5b7ee4d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4aeb5ec85c4f0c" /><Relationship Type="http://schemas.openxmlformats.org/officeDocument/2006/relationships/notesMaster" Target="/ppt/notesMasters/notesMaster1.xml" Id="Ra4f6c57f08e54c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4fa0000eb4c9b" /><Relationship Type="http://schemas.openxmlformats.org/officeDocument/2006/relationships/notesMaster" Target="/ppt/notesMasters/notesMaster1.xml" Id="R5de28307d5e547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22da88de704e79" /><Relationship Type="http://schemas.openxmlformats.org/officeDocument/2006/relationships/notesMaster" Target="/ppt/notesMasters/notesMaster1.xml" Id="Rbc6d3bac04a048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4c1982e011493a" /><Relationship Type="http://schemas.openxmlformats.org/officeDocument/2006/relationships/notesMaster" Target="/ppt/notesMasters/notesMaster1.xml" Id="R3dc399e0a05b41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9c517da6c6432a" /><Relationship Type="http://schemas.openxmlformats.org/officeDocument/2006/relationships/notesMaster" Target="/ppt/notesMasters/notesMaster1.xml" Id="Re02b0288af2d47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4e57b8572c4c41" /><Relationship Type="http://schemas.openxmlformats.org/officeDocument/2006/relationships/notesMaster" Target="/ppt/notesMasters/notesMaster1.xml" Id="R4b992bbe3bb04e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8fcfd950e4d6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9fb2944c24458d" /><Relationship Type="http://schemas.openxmlformats.org/officeDocument/2006/relationships/slideLayout" Target="/ppt/slideLayouts/slideLayout2.xml" Id="R7c14f5dc1e22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14f5dc1e22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ec1d0c6cf4343" /><Relationship Type="http://schemas.openxmlformats.org/officeDocument/2006/relationships/notesSlide" Target="/ppt/notesSlides/notesSlide1.xml" Id="R4c24c0e696fd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a1ffbd9644033" /><Relationship Type="http://schemas.openxmlformats.org/officeDocument/2006/relationships/image" Target="/ppt/media/image.png" Id="Rd2ff5dc75b5f4d68" /><Relationship Type="http://schemas.openxmlformats.org/officeDocument/2006/relationships/notesSlide" Target="/ppt/notesSlides/notesSlide2.xml" Id="R1a1e92900d6146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850e2b044c4bd7" /><Relationship Type="http://schemas.openxmlformats.org/officeDocument/2006/relationships/notesSlide" Target="/ppt/notesSlides/notesSlide3.xml" Id="R38bc78c47a6343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298495a0c04204" /><Relationship Type="http://schemas.openxmlformats.org/officeDocument/2006/relationships/image" Target="/ppt/media/image2.png" Id="R7cd32cc937a94c1c" /><Relationship Type="http://schemas.openxmlformats.org/officeDocument/2006/relationships/notesSlide" Target="/ppt/notesSlides/notesSlide4.xml" Id="Rfd5a23804965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09f57c46f4854" /><Relationship Type="http://schemas.openxmlformats.org/officeDocument/2006/relationships/notesSlide" Target="/ppt/notesSlides/notesSlide5.xml" Id="R80e5d55753fd4a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4e09dc9b04aca" /><Relationship Type="http://schemas.openxmlformats.org/officeDocument/2006/relationships/notesSlide" Target="/ppt/notesSlides/notesSlide6.xml" Id="R2f34b57be0a641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d27eaf21924599" /><Relationship Type="http://schemas.openxmlformats.org/officeDocument/2006/relationships/notesSlide" Target="/ppt/notesSlides/notesSlide7.xml" Id="Raf3f5d29e8464d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6642122b9420e" /><Relationship Type="http://schemas.openxmlformats.org/officeDocument/2006/relationships/notesSlide" Target="/ppt/notesSlides/notesSlide8.xml" Id="R7bd008b88b9949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04304f8294aa1" /><Relationship Type="http://schemas.openxmlformats.org/officeDocument/2006/relationships/notesSlide" Target="/ppt/notesSlides/notesSlide9.xml" Id="Rb5834bef973040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A3008-CC6D-45A4-9735-5F63FF4E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2B6E9-0D31-4150-A287-11D682FF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solidFill>
              <a:srgbClr val="1322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D543-BFF5-47C5-B55A-51FD3C3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6F1C4-F01E-4792-8EA4-0C63EA16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THEME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3EEC0-AB7D-4105-9A86-8436F5DA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From Court Judgments to Verified Action Plans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0661D-7641-4841-BBAC-9A32FE6B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572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Court judgments create value only when they become verified government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F836A-9F9E-4AB2-BDF0-2B81738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Lex-Gov AI turns long, inconsistent judgment PDFs into structured action plans, keeps a human reviewer in control, and publishes only trusted decisions to department dashboards.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2E0D2-895D-4C86-AB9A-6D2E80D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3905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F75B5-1E24-431E-A45F-41CA21B8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4310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This is not a PDF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summary tool.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B5624-61D9-461E-A170-207E546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E4E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E4EF"/>
                </a:solidFill>
                <a:latin typeface="Avenir Next"/>
                <a:ea typeface="Avenir Next"/>
                <a:cs typeface="Avenir Next"/>
              </a:rPr>
              <a:t>It is a decision-support layer</a:t>
            </a:r>
          </a:p>
          <a:p xmlns:a="http://schemas.openxmlformats.org/drawingml/2006/main">
            <a:pPr algn="l">
              <a:defRPr sz="1350" b="1">
                <a:solidFill>
                  <a:srgbClr val="D9E4E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E4EF"/>
                </a:solidFill>
                <a:latin typeface="Avenir Next"/>
                <a:ea typeface="Avenir Next"/>
                <a:cs typeface="Avenir Next"/>
              </a:rPr>
              <a:t>for the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31A0B-8759-4051-AEB9-C382E34F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DC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9BDCF"/>
                </a:solidFill>
                <a:latin typeface="Avenir Next"/>
                <a:ea typeface="Avenir Next"/>
                <a:cs typeface="Avenir Next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1C309-EC9A-4685-B4D6-E0BADE13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861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Extracts case details, directions, deadlines, and departments from scanned or digital judgments.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DFCA3-3581-449A-901C-234A6D90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DC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9BDCF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F86B0-3A79-4624-B15D-6640A303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Shows evidence, confidence, and source page context before anything is trusted.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A69DB-6C20-4578-9FB1-D3C58936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FD6B5-5808-453E-9A99-3B8A431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₹15-30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6B81E-DF15-4618-9A5B-9DAA813A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Prototype cost per judgment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26CFA-5CC8-459D-ABFD-874ADEB4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Repo-estimated Sarvam configuration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2CCF8-AF93-4BCF-AF44-4975FAE0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1CC56-7C9D-4642-8533-C6646508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2-pass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76B60-AC5C-4ABC-AF59-7F3D9FF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76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AI pipeline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F0F78-19BA-4AB2-B815-6403792A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848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Vision first, legal reasoning second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34372-4CF4-44E5-A4B8-7B9D8884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578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2990E-C9A9-48E3-A007-BFE2FF1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34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225AA-37C4-41C1-8D09-A8781E1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76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Unverified items on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0C5D7-7842-4EDF-A6E8-2FFE4F5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48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Trusted view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F5D516-CC2C-46F2-A306-F0EA7BD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41F"/>
          </a:solidFill>
          <a:ln xmlns:a="http://schemas.openxmlformats.org/drawingml/2006/main" w="0">
            <a:solidFill>
              <a:srgbClr val="C784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D24E8-514E-43E0-B0F6-5DD07C9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83D64-9A8F-4FBD-BA90-19BC894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76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Human accountable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A55EF-A892-446A-92F1-173D498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48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Approve, edit, or redo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0DC8A-9E28-43F2-9109-8ABA958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62563A-7690-438D-81F6-087AAFE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F1C39-8D73-4837-91D2-3AC9FE18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472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475CC-82FB-4406-B77C-E371982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00EDB-17CC-4446-BDBC-F94D7E1F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43C40-44B0-49B3-A39E-4DD3B476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 H E   R E A L   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710C5-6BD6-4DE9-9A51-72F84007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71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The state does not suffer from lack of judgments. It suffers from unreadable decisions at the moment action is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0F5A4-1D8B-4967-A7AF-99022ED0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Today, officers have to read long PDFs, identify the operative order, infer who must act, and remember the deadline before the system can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B226B-049E-4F04-971C-3B79524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952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34D51-D2F4-44A9-B397-CAEA46C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Original Judgment PDF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f5dc75b5f4d68"/>
          <a:stretch xmlns:a="http://schemas.openxmlformats.org/drawingml/2006/main"/>
        </p:blipFill>
        <p:spPr>
          <a:xfrm xmlns:a="http://schemas.openxmlformats.org/drawingml/2006/main">
            <a:off x="1026068" y="2781300"/>
            <a:ext cx="2005515" cy="2838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B62EE-046A-4353-8B79-4C0B2945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19350"/>
            <a:ext cx="3238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6F363-A51E-4912-95B5-73B79AE3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Current operational reality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84117-7616-401B-A6D3-059121C3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ABB26-C3BD-473A-9C7B-1A280F26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255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Judgment arrives as a dense PDF, not a task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B53F8-94A3-4DC8-A8AE-205CAD8A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11F27-8286-40B8-A0E4-36D72A2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255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Critical directions are buried inside long legal prose.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4FDD1-1D04-46CE-A8C0-B03ABCFD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F782D-F9E5-4A79-81FE-3FEAF0D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255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Departments and timelines often have to be inferred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EFD1C-4DE0-452C-BEE3-1C8878E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45D4B-B196-41F8-8FC1-B25EED9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52950"/>
            <a:ext cx="255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Appeal windows and compliance deadlines can be missed.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3C259-2091-4459-9357-B43E7F3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24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52207-954E-4665-AC56-135FBE3C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255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Knowledge lives in individual officers, not in the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3F370-1E3A-40EC-8440-FB557636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4210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48052-E144-4770-92AB-C96A239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90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What government actually needs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9FB1D-C5C6-47DD-9C32-29232DE7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419B1-B73E-4F3A-AB11-BB91405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38475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Responsible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D5DB4-99F8-4F05-8D33-97AA158A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24060-709B-485B-9A71-1FBA443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3847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Action 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82AB2-53E4-47D1-92A0-A4424BCB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90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FA769-DD51-4AEF-AF01-FD70EA02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3847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Limitation clock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8F3F7-8AE3-43F2-AB18-B56CDBA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Not a summarizer.</a:t>
            </a:r>
          </a:p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A verified action plan that makes the next administrative move obvious.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6AC46-F539-4FF8-852D-9731EC98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BA4B6-35E9-40B3-91C5-B4A76600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1D20C-59F6-44F5-9ED1-9A6FACF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Who must 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38E96-A6D5-4659-B498-AAF4E6C3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29880-8657-4C00-978F-A266943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77AB3-E342-4779-AB46-4CD80FF9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By when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8C451-C773-4006-8138-DF06F4F9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3053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954D50-116C-4378-BEF7-E548279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26720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63CD55-63C0-40E3-84C5-E88334E4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958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What happens next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3F4CB-E0F7-4104-862A-EC3B1B8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435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5B7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E5B72"/>
                </a:solidFill>
                <a:latin typeface="Avenir Next"/>
                <a:ea typeface="Avenir Next"/>
                <a:cs typeface="Avenir Next"/>
              </a:rPr>
              <a:t>The win is operational clarity under legal ambiguity.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98372D-4632-460A-BBAA-858D9B38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A3C27D-7571-4BDC-82F7-51A4C1A4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AAC0CE-3D4B-4EF8-BE23-DE9AD68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90182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179AF-F5F9-4D0F-A558-96D393E7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8220A-7458-4880-B6E7-A18A080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D307-8D96-4136-AAEA-4EA43F1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U N I Q U E   W E D G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8A6CD-432A-4CAA-9504-20D3B87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Our differentiator is not extraction alone. It is a verified operating loop from judgment to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024DD-8F73-4CC3-AF57-E035A405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Most systems stop at OCR or summary. We push one step further: a structured action plan, a human decision gate, and a trusted dashboard that only shows approved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80907-CDEC-4E00-B36C-A0EB0333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8240D-6C45-4B38-A9F0-BBE6D6AF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93B5C-4F3C-459A-86AB-553F983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1. Understand the judgment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4EA21-C4F5-44C1-A58E-7BA8AA5D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Pass 1 identifies the operative pages. Pass 2 extracts directives, departments, deadlines, and action types from the relevant block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33688-A1E2-436C-B0E7-47BE7FAF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B5AC5-6540-4730-B6A4-2636F92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1C1EF-04A8-4195-87BA-9EC4736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62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2. Force human accountability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EBFEA-4D36-480A-A415-488EFF02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Every extracted directive is shown with confidence and source-page context. The officer can approve, edit, or send it back with a correction note.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3EA00-FBEE-4D82-9853-5B3A41A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8AD52-E122-456B-BA12-3DC4A1D2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467F4-6C22-4F01-B69D-CF634AF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3. Publish only trusted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A2664-6530-4DEB-AF05-7652C244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Departments do not see raw model output. They see verified directives, urgency bands, and pending items that are ready to be acted 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0FFC1-CD2D-4C20-AF7D-71C5E443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Why this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94F03-14D6-4E18-BCF7-74F6F3D0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9CCEF-0480-47A0-8F8C-D8CC65B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535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Cuts the judgment down to the pages that matter before legal reasoning begins.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29A1B-6C6F-475E-B427-67605D29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8B962-99B3-498F-A72E-B4037A72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35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Builds an audit trail instead of hiding edits inside a black box.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144D9-440C-4E1F-A282-95E8C444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77A6D-8EF1-465A-AD86-9D77924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35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Keeps final authority with the government officer, not the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BC390-81C7-4A97-B1C5-DA949CB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1B870-A939-4ABB-BAFE-415640F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535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Turns a one-time reading exercise into reusable institutional memory.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4056B-B692-4245-89F7-7861CD0D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863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This is where the ambition starts: once verified action becomes structured data, the state can monitor compliance instead of merely storing judgments.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D7BC81-7EF1-49D0-8E91-3A10C8A4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96FE6-9E41-447F-A0C7-2ADAF6A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8A91E-FA3F-4172-93D4-F3D6741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33008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1424B-BB88-4EED-A22D-9B54338E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484DC-880D-4B3A-8D1B-2F808403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888B1-3AE2-4F0F-A7E0-AC3E0FE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P R O D U C T   P R O O 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13378-8D2B-4B06-B7F6-8380F933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One officer verifies with evidence. Every department downstream sees only trusted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ED0D9-8769-4DF7-9978-3118DE9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3340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37A7A-D9C0-4C6C-8077-149416D7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Verification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BE6F3-F396-4D73-8B04-FA3147C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flow: Approve, Edit, Redo, Publish, source page jump, confidence 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F93C6-AF63-4250-9926-19E8F9AE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3334C-A095-408B-84DA-539EE437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3440F-0842-4ABF-B318-3F4D07A3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432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AE0D9-9C26-4326-968A-B8C2C26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337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C84F-465D-48CB-BDAF-2034EE3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9525">
            <a:solidFill>
              <a:srgbClr val="C8E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927AD-3DCB-422A-B021-67B5779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432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7D4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2F7D4B"/>
                </a:solidFill>
                <a:latin typeface="Avenir Next"/>
                <a:ea typeface="Avenir Next"/>
                <a:cs typeface="Avenir Next"/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8DFF4-A790-4336-BB77-A20C19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Release compensation order and complete mutation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DE3C0-2AE0-4A9E-8B83-E3EBBADE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Deadline: 14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15A3F-E72C-499D-95A0-121F0DE9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242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1E5B72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E5B72"/>
                </a:solidFill>
                <a:latin typeface="Avenir Next"/>
                <a:ea typeface="Avenir Next"/>
                <a:cs typeface="Avenir Next"/>
              </a:rPr>
              <a:t>Page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7396B-13EA-41E7-9740-6F16DB1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4DA0C-C8A3-428F-9487-619BBA3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66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1">
                <a:solidFill>
                  <a:srgbClr val="2F7D4B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2F7D4B"/>
                </a:solidFill>
                <a:latin typeface="Avenir Next"/>
                <a:ea typeface="Avenir Next"/>
                <a:cs typeface="Avenir Next"/>
              </a:rPr>
              <a:t>92%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0618F-7D88-43B1-99BD-F5FD91C7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E3A6D-2280-4EB5-963F-B0BA8552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876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DC98B-E74C-4E99-ABCA-ACD71B3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66748-71E4-4037-8C2A-E6EE969C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115F8-FCE7-4199-B366-787BE360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Appeal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C4A97-DE77-43F4-BC4E-C0699DF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37C00-B221-4E97-8045-EFAC2D97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Review whether grounds exist to challenge the order within limitation.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BDCDF-50A1-439A-A8AF-DC95DCA0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Deadline: 30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5498C-2840-469B-9BC2-6B2B4E5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1E5B72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E5B72"/>
                </a:solidFill>
                <a:latin typeface="Avenir Next"/>
                <a:ea typeface="Avenir Next"/>
                <a:cs typeface="Avenir Next"/>
              </a:rPr>
              <a:t>Page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BB757-CD4A-43E5-A2F9-2316FA6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Confidence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0B80A-FC28-40F8-B9B2-5DCD9B59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1">
                <a:solidFill>
                  <a:srgbClr val="C7841F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C7841F"/>
                </a:solidFill>
                <a:latin typeface="Avenir Next"/>
                <a:ea typeface="Avenir Next"/>
                <a:cs typeface="Avenir Next"/>
              </a:rPr>
              <a:t>68%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03287-A414-4DEE-9FBF-B3E930D7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0B37C1-4574-4502-9D9C-275660E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32cc937a94c1c"/>
          <a:stretch xmlns:a="http://schemas.openxmlformats.org/drawingml/2006/main"/>
        </p:blipFill>
        <p:spPr>
          <a:xfrm xmlns:a="http://schemas.openxmlformats.org/drawingml/2006/main">
            <a:off x="3506932" y="2762250"/>
            <a:ext cx="1825336" cy="23622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D19DBE-88E3-4C43-B4A5-D3C71855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768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Selected directive moves the reviewer to the supporting page context.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DEF95D-3452-41F5-BE82-927A0F43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5410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86EDDC-037D-4801-A630-F8B3982D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Department 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3BB028-EDBF-4C08-A550-3BB9C2B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CEE36B-DA00-482D-8773-5B2FE4A6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Urgent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E2BCE5-9A13-45A8-A88F-5EFAEE6B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4A8C75-26D6-4143-B693-C25ECFA2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0507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Upcoming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E74A2-E55B-4638-A8DB-723044E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7FE6D-3F78-4835-A4C2-8EBD8A78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05075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Actioned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BAAD5F-8E02-439A-BAA1-7656648C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57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FB99CF-A19B-4782-9B3C-85E72A2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050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Verified 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0E17EB-B490-48C8-A287-015A988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8958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509186-EF82-4884-A8B3-4855AF4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Case 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6AE704-F8E1-4E88-AA20-D27894B4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Directive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8BC834-35F4-4DC5-9398-6D9EE11C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337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Deadline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EF9826-28B6-4019-B468-CAD9C825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337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57B59A-DAD4-4641-B991-1D47B0F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337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Days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D664C9-5DDC-4E9B-BA43-714E432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8CC744-D8B4-4020-A84F-DCA60AA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REV-1482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1BD63E-F53F-4C8C-B237-9303DB59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Release survey order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225423-3B08-4174-AD78-D51A0D59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May 18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AA3349-098C-4951-875D-400FA87E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575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33A3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B33A3A"/>
                </a:solidFill>
                <a:latin typeface="Avenir Next"/>
                <a:ea typeface="Avenir Next"/>
                <a:cs typeface="Avenir Next"/>
              </a:rPr>
              <a:t>Urgent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6DF15C-6812-4FB7-9CCD-912AC9E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575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7C7423-1DA3-4BE7-8A04-CE16DEC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9"/>
          </a:solidFill>
          <a:ln xmlns:a="http://schemas.openxmlformats.org/drawingml/2006/main" w="0">
            <a:solidFill>
              <a:srgbClr val="ECE4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019058-00E5-49D1-80A3-1D6A13F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147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LAW-2207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CC438A-88A9-4A19-B049-AF0E854C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Appeal review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57D254-E9F5-49E7-ACB9-8D03144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May 31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66B99B-05A7-4E5B-AF35-E2950F9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841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C7841F"/>
                </a:solidFill>
                <a:latin typeface="Avenir Next"/>
                <a:ea typeface="Avenir Next"/>
                <a:cs typeface="Avenir Next"/>
              </a:rPr>
              <a:t>Upcoming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5E64C0-2014-4869-8949-08718C44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147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A14861-7AA6-4C47-8649-65497D03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386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9"/>
          </a:solidFill>
          <a:ln xmlns:a="http://schemas.openxmlformats.org/drawingml/2006/main" w="0">
            <a:solidFill>
              <a:srgbClr val="ECE4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924E56-CEEC-4E05-BC95-F9CF6C71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FST-1021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082BB6-39E7-45A3-8182-5AECEA16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Compliance report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8662CD-7B92-4268-8072-E468C29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Jun 14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92C869-8B4A-499F-9198-6B51D9E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719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F7D4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2F7D4B"/>
                </a:solidFill>
                <a:latin typeface="Avenir Next"/>
                <a:ea typeface="Avenir Next"/>
                <a:cs typeface="Avenir Next"/>
              </a:rPr>
              <a:t>On Track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BA8870-CBE4-463F-B48E-6B4AEA4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71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801B75-DD26-40EE-BB0F-162A54D0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The dashboard is intentionally boring in the best way: clean, actionable, department-wise, and safe for decision-makers.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FE0BD8-85A3-4F12-87C8-C40FC953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B18F33-CF3A-4431-A71D-5E710B4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69793E-2BED-4D71-8EC5-A1B3403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63409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37F49-6453-439B-A155-3B0FD420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E2F6A-CB84-4B10-9584-4B62369F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391F3-6DF1-4A70-A543-D3DCB5D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 E C H N I C A L   I M P L E M E N T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B056-A876-4C6F-B932-87AE8B1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We made the hard part tractable by splitting it into two AI problems and one mandatory human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75827-6A01-4D3E-BA2B-D512F41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This is not one giant prompt. It is a staged pipeline designed for long, inconsistent legal PDFs and operational reliability.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C02EB-CFE5-42EB-B806-9339CFE0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10B24-89C8-4E58-9EE4-D94FC4EA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DE58D-7CF7-49AA-8A40-EA79A7E7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PDF 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B301E-E0F3-455F-B9F0-FB61A13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Digital or scanned judgment enters the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0BFBB-88B0-40E8-9855-CE4BB9C6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194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6007F-3361-4CD2-A41D-2755470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8135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00292-8147-469A-A035-337E08A2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433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FDD82-777B-4668-8E9D-878EAAC3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385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6AF47-4831-44D3-8A56-C40D8CE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Pass 1: 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02323-A523-4204-8B04-E0B52FBB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Sarvam Vision OCRs, classifies structure, and identifies operative pages.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9C68E-4FC6-486A-8984-D15F100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791B7-4081-4FC3-A387-4460242A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A4188-36E1-433A-9487-B3FEFD8B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1D576-8C40-4EFB-BB2E-12C8B7D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C203B-AB0E-4C01-B0B7-5B0848C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PDF slicer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1E06C-8137-448C-9C6D-CE388AB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Only the relevant pages are passed forward, reducing noise and cost.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53B92-6559-4698-AC8A-03D0FEC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FC0EE-4AB3-423B-85D6-11E6FB60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0AA4F-F4DD-488B-BAFE-7420D6A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065DDA-3408-4226-B20F-C1B08694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0F6B6-6732-49A6-8BA3-0CAA1A1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Pass 2: Legal extraction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70E2C8-CB7F-46A6-B7A5-0ED00258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Sarvam 105B produces directives, departments, deadlines, and action types.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C368E-678F-415E-9B44-68C17DD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70D90-B545-43F4-BD7D-A0793312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105D1-92C1-44A6-BC31-39570A7D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32833-4E9C-42D3-9283-D4DAE9E6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7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E5B7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05E1F-7BA5-4CF8-A070-73AAFF7C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Verification + self-correction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6AE94F-5A7A-421C-8DB1-FEF15E06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Officer approves, edits, or re-runs with a correction note.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42FCEE-C5B4-4E60-8D33-FACE3F0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FB92B1-30AA-405B-9252-1AAB135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8135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6C7B6D-8830-415C-BC24-4D12DBA4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566354-4407-4EA7-AA27-32089CC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385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7DD77C-3F40-41D7-9DFF-0CEC66CD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671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Trusted dashboard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72725A-3EBF-4B71-98A9-69D61594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Only verified directives reach department users and alert views.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4B2376-281E-452E-80FF-D3A7A84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4AABEE-DEF3-449A-A818-1294A74E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7FE761-77A7-44A7-8A4A-3B2D093C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Indian languages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1F290D-E52C-4472-B6DA-6C1F3770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Sarvam Vision capability cited in repo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644439-81F5-41C0-BD11-6D3F2349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14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2ADE8B-5231-4D61-994C-BD7A8B5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91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128K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D4E10E-5661-48D5-8ED6-8E31A9A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34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Legal context window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E0577F-9573-4087-A69E-FED4ED9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05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Sarvam-105B in repo rationale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4EA37-FD9B-45E8-B3D1-B0D5FED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14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41F"/>
          </a:solidFill>
          <a:ln xmlns:a="http://schemas.openxmlformats.org/drawingml/2006/main" w="0">
            <a:solidFill>
              <a:srgbClr val="C7841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30E921-FFBF-46F2-AEBF-0308A812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91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7D74DE-A215-40EE-9D47-9AF69A9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34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Core tables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BC86BB-EA5C-411A-AB9B-C23444E0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905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Judgments, directives, alerts, audit and more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9894BF-09D6-4057-884A-98F9071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14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2F7D4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B3BE8C-35FD-4036-8DB0-EC0F5A7A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91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1 command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390647-549A-4FC0-A8EF-BD13FE42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34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Demo startup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A11B3E-CDF0-4109-B190-F331F18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05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./start.sh launches the stack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E81707-CC11-4544-BD87-F05B0CB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FC7372-791D-4C16-A5DC-050E589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74330B-821B-418B-9734-1E1559C7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48966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09190-EAB2-4A99-9AA0-DF3E6F1C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23DC-E6F1-455A-A192-978D2E0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D00B4-E08B-4B10-B029-C30B1713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G O V E R N M E N T   F E A S I B I L I T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160FB-905D-4DCF-9A11-F1038E9D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This can slot into government workflow because it respects how government already 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628E1-7CB5-411F-AC34-E32C1C22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01047-AA79-412E-8CE4-F166CD5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Fits the current operating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55962-901B-4AAD-9828-C931B04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00709-2C48-4955-9447-586F4CA9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Judgments can be fetched from CCMS after High Court disposal, matching the problem statement.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C6500-41FE-4099-B0EA-62A60B38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74DF6-04EE-4A4D-9D99-2B98DB1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Role-based views already exist in the prototype: admin, nodal officer, department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DE75B-9207-458C-9CC3-2275D9BF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2ECEF-67D4-45FD-A47C-6CF91DCD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The officer remains the decision-maker; AI is decision support, not automation.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D7F43-60BF-4CB6-91B8-AF9BD24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4E1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03F49-580B-4F25-9E66-D561731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Deployable without a rewrite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956EF-81B6-418E-A058-888DA414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79B17-2F02-4254-A4D3-94337A33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Prototype runs with React + FastAPI + SQLite now; PostgreSQL and object storage are clear production upgrades.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26364-62F2-4EF4-97CE-289F842D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19D5E-3086-4AB4-96CA-20F4D9B6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76600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Repo notes an on-premise path at the Karnataka State Data Centre with endpoint swap, not logic rewrite.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57A10-2F34-4C2B-AAAE-89A7C543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D3124-7E4E-46DE-B095-BF50F142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29050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Docker and one-command startup reduce deployment friction for evaluation.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24283-5C74-4E01-8438-617B7D1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4671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99862-6C26-4975-99DD-2DA252B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Why officers can trust 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53AF3-A985-4F9F-8AAA-EF52ABDD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2F58F-6A9E-449D-8A3B-2429736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Source page evidence beside every directive.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A69FC-7E6A-40A2-8E8E-A360841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39A8F-63DC-4FAA-B611-2347EAB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Confidence visibility instead of fake certainty.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C787E-243E-41E5-8447-5154981F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EC41D-56D9-4595-AECF-081013C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Approve, edit, and redo actions are logged.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0E689-D3C5-4064-B373-D3A6330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95B93-36F6-4C92-86CF-B3F1C516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Dashboard excludes unverified model output by design.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9330E-13E0-4EB8-8F06-629CB0B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That makes this feasible for government: the model helps officers move faster, but the system never asks the state to outsource judgment.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0FD84-E944-44AF-92B5-64916EE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3A010C-8924-433C-AD78-024A012F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E00DA-316F-497B-B445-2A8E5B7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355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D14FE-94A5-4E29-9F86-DDE6FB0B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89ED9-47B7-4BFE-B2F8-F25D881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B1418-BD24-460F-A8FA-B1E1EF3F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 C A L E   A N D   I M P A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7585-257A-4E17-8991-7E8E1F9F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71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The upside is not a few PDFs. It is a compliance operating layer sitting on top of the judiciary-government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FA871-440A-4FF6-9E9B-F6E5FBED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882E6-F797-49C2-ACEF-50FE9B5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6.4M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75A00-2862-46BD-A1C6-CE0AAE0C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High Court pending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93A1A-8ABB-4FF4-88FD-25FF059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eCourts public statistics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9D478-4334-4A3B-B078-0BB11797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7C30E-C240-4BF5-B271-E99A1C30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33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48.8M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6CD2F-BF7B-4CEA-AD0B-E24AEFAE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District &amp; taluka pending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2FC05-DAF8-4941-8A3A-61C8913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eCourts public statistics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DBF50-86B4-4FA7-ACB2-1C28803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574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EC394-7352-4CED-80DE-93B934A8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33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71F25-4517-4F38-88DE-24A3857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High Court complexes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8989E-71A2-4942-ACCB-ECA3ABE1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National system breadth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502A9-0BAD-4261-81AD-C1A1E75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2"/>
          </a:solidFill>
          <a:ln xmlns:a="http://schemas.openxmlformats.org/drawingml/2006/main" w="0">
            <a:solidFill>
              <a:srgbClr val="1E5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6789E-AD68-46A5-80DA-49EA843E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3710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8A2AE-764E-4541-B8DB-A29B544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District &amp; taluka complexes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FCF68-29E7-4811-AEF1-B3DCC9D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National system breadth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1D659-690D-4446-B121-551B2582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4191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0041F-15DE-4EEB-8420-1D1A175E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The honest 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0E439-58CB-470F-95C0-233194E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We are not claiming all pending cases are in scope. The entry point is narrower and more credible: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F922E-FC5C-4964-806D-760E6F37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Disposed High Court matters involving government departments that enter CCMS and require a real administrative response.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6ED1D-C14D-42EE-9A3F-D551488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81350"/>
            <a:ext cx="66103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F2FAAE-BB97-4212-863B-F1753B21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90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Scenario model: even modest adoption compounds fast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66EA9-D46C-4F0F-AF6A-CDE392C8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90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10,000 judgments/year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83B75-3F05-47C4-A63E-7079958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30 min saved each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1726BB-844B-4D67-9CED-CB5F3D1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5,000 officer-hours returned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3AA03C-ACD1-4BA8-B3E8-5632F83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5765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814C16-8514-4FBC-BD35-55A79BF0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25,000 judgments/year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D939D8-A887-494C-B9E1-2A46395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30 min saved each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795606-A949-4F2E-95AA-FF84F54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12,500 officer-hours returned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BB41C-0652-43F4-B55E-7BFA17B1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339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F137F-9989-4C61-9074-22056928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43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100,000 judgments/year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2BBA85-60B7-4AD4-BD2E-800CE7C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43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30 min saved each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B763D2-E1CD-492A-AE69-8A3D6908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43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B7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E5B72"/>
                </a:solidFill>
                <a:latin typeface="Avenir Next"/>
                <a:ea typeface="Avenir Next"/>
                <a:cs typeface="Avenir Next"/>
              </a:rPr>
              <a:t>50,000 officer-hours returned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54807B-BE3C-446E-865C-4D204946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015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C7AA81-A10A-4C3B-AF51-B2D6452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01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Illustrative assumption for judges: 30 minutes saved per judgment after verification support. The real strategic upside is reduced deadline slippage and better compliance visibility.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CEE9D-0300-418F-8DD6-0062D319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38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Third-order effects: fewer missed appeal windows, faster compliance, cleaner inter-department handoffs, and better taxpayer value from every resolved case.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B0809E-43CC-4A0A-95C7-4CD0222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D5D193-2BE3-465B-A7A8-8EDC04B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eCourts public statistics, accessed May 7,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C0205B-B9FE-4D9E-9641-50A13A8D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21809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D5EB7-8773-4E4D-8626-E618DE2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2ED0B-427D-4FF9-9A37-6899E0E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F2A"/>
          </a:solidFill>
          <a:ln xmlns:a="http://schemas.openxmlformats.org/drawingml/2006/main" w="0">
            <a:solidFill>
              <a:srgbClr val="A85F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78AF8-6443-489A-AD10-B697FB83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W H Y   T H I S   E N T R Y   C A N   W I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648A9-B378-426E-82AD-0D77D9DB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We are not selling features slide by slide. We are selling a believable future where court decisions convert into accountable state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F309F-6198-490F-AA5B-2A939A4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410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9971C-3D47-407F-9A2D-EC26724A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F3AF7-B2D0-4BA8-B851-F89656E6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Problem Relevance &amp; Depth of Understanding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A770D-1C9D-4319-AE05-54F3C589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We address the exact failure point in CCMS: judgments arrive, but action is still trapped inside PDFs and manual interpretation.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42F8-73D0-40E2-AC9C-1DB679D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410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D68BF-12A5-45F7-8793-2DACF8BF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7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E5B7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2133E-0581-4CC9-A347-7A35CE02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Technical Implementation &amp; Innovation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C1509-17FB-4FD6-99F0-32BCD707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574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Two-pass extraction, operative-page slicing, human verification, self-correction loop, and a full stack prototype already exist.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E0901-67D4-492B-A702-0536AE2A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5410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C14F0-AC03-4939-94FA-39F4276C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03B4A-8E43-489C-A7FE-56C59906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Real-World Deployability &amp; Government Feasibility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C0796-21C0-4A63-9121-B3819CEA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The system respects role-based workflow, supports on-prem direction, and does not require blind trust in AI.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BC350-DDF0-46C8-A767-DF2BF1B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5410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5CA96-B998-4B15-AF7F-B2DD147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7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E5B7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B9BE4-1D90-4886-BA81-12F4C51B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Demo Quality &amp;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B0B75-CE5E-442D-82F1-E1DCBEF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195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The demo is readable end-to-end: upload, verify with evidence, publish, and monitor urgency in a trusted dashboard.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F7E21-B155-4FEA-A6C1-F0F08ED9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410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DCCF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258F2-59BB-4FC7-A4D5-C0571A3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85F2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28D93-5FB8-4782-B370-67545D3F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52033"/>
                </a:solidFill>
                <a:latin typeface="Avenir Next"/>
                <a:ea typeface="Avenir Next"/>
                <a:cs typeface="Avenir Next"/>
              </a:rPr>
              <a:t>Scalability &amp; Long-Term 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37A57-6E98-4512-BA02-327914CC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Structured verified directives create a reusable state memory layer for compliance, appeal tracking, and inter-department coordination.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67329-FF8C-4C97-929F-41A09DE3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3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52033"/>
                </a:solidFill>
                <a:latin typeface="Georgia"/>
                <a:ea typeface="Georgia"/>
                <a:cs typeface="Georgia"/>
              </a:rPr>
              <a:t>Judge takeaway: this is ambitious enough to matter, but disciplined enough to deploy.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1B61E-19FB-462D-AAD5-7ECB731C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B0526-70A6-4F1E-BFCE-E1DAFEB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F4AE7-FEB8-43AD-83F5-5205E5EC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74139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8D4C6-B527-443A-8064-7600BCD7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solidFill>
              <a:srgbClr val="1322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FCE08-F1FA-4421-925C-25522D8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2B1F0-6925-4799-8927-AF03852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C L O S I N G   V I S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7E55A-FC62-4909-A778-BDBE924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From judgment archives to a living action system for the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6CC5-2587-4919-8CAD-BB9F3F1D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2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6E2EA"/>
                </a:solidFill>
                <a:latin typeface="Avenir Next"/>
                <a:ea typeface="Avenir Next"/>
                <a:cs typeface="Avenir Next"/>
              </a:rPr>
              <a:t>The ambition is not to read one more document. It is to make every disposed case easier to act on, easier to monitor, and harder to ignore.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09BDC-3530-4A1A-B472-8FD9F97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9525">
            <a:solidFill>
              <a:srgbClr val="3450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0BB20-5BE8-4265-BE03-025F7A98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05A3D-071B-459A-BB5F-C19E3C82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Upload judgment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B49B7-AAA8-4E83-9F40-7D2015C3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rPr>
              <a:t>Officer gets a structured first draft instead of starting from raw PDF.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71121-F541-46D3-8A3A-68A64CE3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C6D9E-F477-44BD-B6FF-D527A247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FEECA-276A-42FB-A6EA-C8AA042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9525">
            <a:solidFill>
              <a:srgbClr val="3450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DED8C-35E5-4B81-988E-B512EC2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4308-891B-4C0A-ADB1-9FC3CCE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Verify and publish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59264-A17F-40B9-8400-31B8EA5B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005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rPr>
              <a:t>Trusted directives move to dashboards with urgency and ownership.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C0C88-7A1C-43E3-BD1A-F23D7AAD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814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FEC9B-EE94-452D-A0D0-DD3C8147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EB5C3-6C90-4FD8-9E62-08C71F1F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9525">
            <a:solidFill>
              <a:srgbClr val="3450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F83A2-BDA9-49C9-A89C-C9D647F1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rPr>
              <a:t>Then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BD475-2BEC-4B5A-91BE-A16C7A1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Scale across departments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ED9F0-EEE6-47A6-A98F-D442E46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rPr>
              <a:t>CCMS becomes a decision layer, not just a case-tracking store.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E5A2C-5C6E-4F08-BDD2-16EC9405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94E8F-40DF-4892-A171-83EAE6D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762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D3E2"/>
          </a:solidFill>
          <a:ln xmlns:a="http://schemas.openxmlformats.org/drawingml/2006/main" w="0">
            <a:solidFill>
              <a:srgbClr val="8DD3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9FE37-B6C9-4D9B-BF6B-11245625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813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05D"/>
          </a:solidFill>
          <a:ln xmlns:a="http://schemas.openxmlformats.org/drawingml/2006/main" w="9525">
            <a:solidFill>
              <a:srgbClr val="3450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1DFB8-E684-4F3F-8E63-D2A9742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B7CA"/>
                </a:solidFill>
                <a:latin typeface="Avenir Next"/>
                <a:ea typeface="Avenir Next"/>
                <a:cs typeface="Avenir Next"/>
              </a:rPr>
              <a:t>Later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26AC7-DCC5-42FF-A1D9-0A1F19E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Statewide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70578-8372-4F9E-9A8E-223C16CA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D6E2EA"/>
                </a:solidFill>
                <a:latin typeface="Avenir Next"/>
                <a:ea typeface="Avenir Next"/>
                <a:cs typeface="Avenir Next"/>
              </a:rPr>
              <a:t>Compliance memory, appeal discipline, and measurable administrative throughput.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45AD2-302E-4F5F-A9FE-7EEC1D2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Lex-Gov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EEC29-1B72-40EA-AC2E-C5F7FBD8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2D5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2D5E3"/>
                </a:solidFill>
                <a:latin typeface="Avenir Next"/>
                <a:ea typeface="Avenir Next"/>
                <a:cs typeface="Avenir Next"/>
              </a:rPr>
              <a:t>A human-verified action pipeline for government after the judgment is delivered.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FD608-41C0-45A6-ACA5-C2F07867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340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7F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5F7FA"/>
                </a:solidFill>
                <a:latin typeface="Georgia"/>
                <a:ea typeface="Georgia"/>
                <a:cs typeface="Georgia"/>
              </a:rPr>
              <a:t>Court orders should not die as PDFs. They should move the state.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8FB5D-15AA-4146-9586-2E134EE4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E"/>
          </a:solidFill>
          <a:ln xmlns:a="http://schemas.openxmlformats.org/drawingml/2006/main" w="0">
            <a:solidFill>
              <a:srgbClr val="DCCF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2EC2B1-2E49-4765-9B15-989B85F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607089"/>
                </a:solidFill>
                <a:latin typeface="Avenir Next"/>
                <a:ea typeface="Avenir Next"/>
                <a:cs typeface="Avenir Next"/>
              </a:rPr>
              <a:t>Repo evidence: README, frontend routes, backend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88895-BA33-40C9-8F22-7F65898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07089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633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2026-05-06T19:24:55.0220000Z</dcterms:created>
  <dcterms:modified xsi:type="dcterms:W3CDTF">2026-05-06T19:24:55.0230000Z</dcterms:modified>
</coreProperties>
</file>